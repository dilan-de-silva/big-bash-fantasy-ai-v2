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58" r:id="rId6"/>
    <p:sldId id="259" r:id="rId7"/>
    <p:sldId id="260" r:id="rId8"/>
    <p:sldId id="261" r:id="rId9"/>
    <p:sldId id="263" r:id="rId10"/>
    <p:sldId id="262" r:id="rId11"/>
    <p:sldId id="264" r:id="rId12"/>
    <p:sldId id="265" r:id="rId13"/>
    <p:sldId id="266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  <p14:sldId id="267"/>
            <p14:sldId id="268"/>
          </p14:sldIdLst>
        </p14:section>
        <p14:section name="Pricing Model" id="{7923590F-B911-4954-8180-316826DCECB0}">
          <p14:sldIdLst>
            <p14:sldId id="258"/>
            <p14:sldId id="259"/>
            <p14:sldId id="260"/>
            <p14:sldId id="261"/>
          </p14:sldIdLst>
        </p14:section>
        <p14:section name="Previous Model Build" id="{F6783EA7-0B85-432C-8B34-5ACBD9E0708B}">
          <p14:sldIdLst>
            <p14:sldId id="263"/>
          </p14:sldIdLst>
        </p14:section>
        <p14:section name="Batting Point Model" id="{20176CAB-22A2-449A-ADF4-9AEF7BF31A4F}">
          <p14:sldIdLst>
            <p14:sldId id="262"/>
            <p14:sldId id="264"/>
          </p14:sldIdLst>
        </p14:section>
        <p14:section name="Base Model (Reweight/Rebuild)" id="{684E1DFC-4CB6-4340-901B-D6627A0B3C03}">
          <p14:sldIdLst>
            <p14:sldId id="265"/>
            <p14:sldId id="266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an De Silva" userId="579b606d6e18a4ed" providerId="LiveId" clId="{55D98E11-54C8-4694-9916-6163FE05F5A8}"/>
    <pc:docChg chg="custSel addSld modSld addSection modSection">
      <pc:chgData name="Dilan De Silva" userId="579b606d6e18a4ed" providerId="LiveId" clId="{55D98E11-54C8-4694-9916-6163FE05F5A8}" dt="2025-11-11T13:25:10.101" v="68" actId="14100"/>
      <pc:docMkLst>
        <pc:docMk/>
      </pc:docMkLst>
      <pc:sldChg chg="addSp delSp modSp add mod">
        <pc:chgData name="Dilan De Silva" userId="579b606d6e18a4ed" providerId="LiveId" clId="{55D98E11-54C8-4694-9916-6163FE05F5A8}" dt="2025-11-11T13:25:10.101" v="68" actId="14100"/>
        <pc:sldMkLst>
          <pc:docMk/>
          <pc:sldMk cId="778238734" sldId="265"/>
        </pc:sldMkLst>
        <pc:spChg chg="mod">
          <ac:chgData name="Dilan De Silva" userId="579b606d6e18a4ed" providerId="LiveId" clId="{55D98E11-54C8-4694-9916-6163FE05F5A8}" dt="2025-11-11T12:52:47.369" v="17" actId="20577"/>
          <ac:spMkLst>
            <pc:docMk/>
            <pc:sldMk cId="778238734" sldId="265"/>
            <ac:spMk id="2" creationId="{6247B832-A404-856B-5B15-498B899D8D57}"/>
          </ac:spMkLst>
        </pc:spChg>
        <pc:spChg chg="del">
          <ac:chgData name="Dilan De Silva" userId="579b606d6e18a4ed" providerId="LiveId" clId="{55D98E11-54C8-4694-9916-6163FE05F5A8}" dt="2025-11-11T12:52:42.975" v="7" actId="478"/>
          <ac:spMkLst>
            <pc:docMk/>
            <pc:sldMk cId="778238734" sldId="265"/>
            <ac:spMk id="3" creationId="{5D6B57CB-75A0-BD7E-564B-DF6170A9B175}"/>
          </ac:spMkLst>
        </pc:spChg>
        <pc:spChg chg="add del mod">
          <ac:chgData name="Dilan De Silva" userId="579b606d6e18a4ed" providerId="LiveId" clId="{55D98E11-54C8-4694-9916-6163FE05F5A8}" dt="2025-11-11T12:52:50.569" v="18" actId="478"/>
          <ac:spMkLst>
            <pc:docMk/>
            <pc:sldMk cId="778238734" sldId="265"/>
            <ac:spMk id="5" creationId="{C961A8EB-168C-B1E1-9AFF-6D466367A754}"/>
          </ac:spMkLst>
        </pc:spChg>
        <pc:picChg chg="add del mod">
          <ac:chgData name="Dilan De Silva" userId="579b606d6e18a4ed" providerId="LiveId" clId="{55D98E11-54C8-4694-9916-6163FE05F5A8}" dt="2025-11-11T13:22:37.209" v="51" actId="478"/>
          <ac:picMkLst>
            <pc:docMk/>
            <pc:sldMk cId="778238734" sldId="265"/>
            <ac:picMk id="7" creationId="{9C007BD9-6495-7865-4113-0D957F7D713C}"/>
          </ac:picMkLst>
        </pc:picChg>
        <pc:picChg chg="add del mod">
          <ac:chgData name="Dilan De Silva" userId="579b606d6e18a4ed" providerId="LiveId" clId="{55D98E11-54C8-4694-9916-6163FE05F5A8}" dt="2025-11-11T13:22:37.703" v="52" actId="478"/>
          <ac:picMkLst>
            <pc:docMk/>
            <pc:sldMk cId="778238734" sldId="265"/>
            <ac:picMk id="9" creationId="{5BF8AC2C-197C-9889-B1AA-8815E96F3EA4}"/>
          </ac:picMkLst>
        </pc:picChg>
        <pc:picChg chg="add del mod">
          <ac:chgData name="Dilan De Silva" userId="579b606d6e18a4ed" providerId="LiveId" clId="{55D98E11-54C8-4694-9916-6163FE05F5A8}" dt="2025-11-11T13:22:35.833" v="49" actId="478"/>
          <ac:picMkLst>
            <pc:docMk/>
            <pc:sldMk cId="778238734" sldId="265"/>
            <ac:picMk id="11" creationId="{472B34DC-282B-DE33-9234-7C8CA1B48499}"/>
          </ac:picMkLst>
        </pc:picChg>
        <pc:picChg chg="add del mod">
          <ac:chgData name="Dilan De Silva" userId="579b606d6e18a4ed" providerId="LiveId" clId="{55D98E11-54C8-4694-9916-6163FE05F5A8}" dt="2025-11-11T13:22:36.383" v="50" actId="478"/>
          <ac:picMkLst>
            <pc:docMk/>
            <pc:sldMk cId="778238734" sldId="265"/>
            <ac:picMk id="13" creationId="{186C2D99-1DD7-B0A7-8EE0-06775064C0F5}"/>
          </ac:picMkLst>
        </pc:picChg>
        <pc:picChg chg="add mod">
          <ac:chgData name="Dilan De Silva" userId="579b606d6e18a4ed" providerId="LiveId" clId="{55D98E11-54C8-4694-9916-6163FE05F5A8}" dt="2025-11-11T13:23:30.371" v="54" actId="1076"/>
          <ac:picMkLst>
            <pc:docMk/>
            <pc:sldMk cId="778238734" sldId="265"/>
            <ac:picMk id="15" creationId="{276CF6FE-4742-1F80-08A7-4AEFC184A94D}"/>
          </ac:picMkLst>
        </pc:picChg>
        <pc:picChg chg="add mod">
          <ac:chgData name="Dilan De Silva" userId="579b606d6e18a4ed" providerId="LiveId" clId="{55D98E11-54C8-4694-9916-6163FE05F5A8}" dt="2025-11-11T13:24:16.491" v="61" actId="14100"/>
          <ac:picMkLst>
            <pc:docMk/>
            <pc:sldMk cId="778238734" sldId="265"/>
            <ac:picMk id="17" creationId="{4D15F185-3660-C02F-48C5-4C03BA4FA445}"/>
          </ac:picMkLst>
        </pc:picChg>
        <pc:picChg chg="add mod">
          <ac:chgData name="Dilan De Silva" userId="579b606d6e18a4ed" providerId="LiveId" clId="{55D98E11-54C8-4694-9916-6163FE05F5A8}" dt="2025-11-11T13:24:13.554" v="60" actId="1076"/>
          <ac:picMkLst>
            <pc:docMk/>
            <pc:sldMk cId="778238734" sldId="265"/>
            <ac:picMk id="19" creationId="{49124439-DA01-4E1E-CADA-6BCEB6BE6CEF}"/>
          </ac:picMkLst>
        </pc:picChg>
        <pc:picChg chg="add mod">
          <ac:chgData name="Dilan De Silva" userId="579b606d6e18a4ed" providerId="LiveId" clId="{55D98E11-54C8-4694-9916-6163FE05F5A8}" dt="2025-11-11T13:24:46.404" v="64" actId="1076"/>
          <ac:picMkLst>
            <pc:docMk/>
            <pc:sldMk cId="778238734" sldId="265"/>
            <ac:picMk id="21" creationId="{FA88AEEE-5EBD-3E40-AE50-BBF77EFA8571}"/>
          </ac:picMkLst>
        </pc:picChg>
        <pc:picChg chg="add mod">
          <ac:chgData name="Dilan De Silva" userId="579b606d6e18a4ed" providerId="LiveId" clId="{55D98E11-54C8-4694-9916-6163FE05F5A8}" dt="2025-11-11T13:25:10.101" v="68" actId="14100"/>
          <ac:picMkLst>
            <pc:docMk/>
            <pc:sldMk cId="778238734" sldId="265"/>
            <ac:picMk id="23" creationId="{CBB5288E-E7D3-8D27-8717-C302E606D31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13/11/2025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6"/>
                </a:solidFill>
              </a:rPr>
              <a:t>Pricing Model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Points Modelling (*)</a:t>
            </a:r>
          </a:p>
          <a:p>
            <a:r>
              <a:rPr lang="en-AU" dirty="0"/>
              <a:t>Interval Modelling instead of Point Estimation</a:t>
            </a:r>
          </a:p>
          <a:p>
            <a:r>
              <a:rPr lang="en-AU" dirty="0"/>
              <a:t>New Player Unsupervised Clustering Model to identify closest x amount of current </a:t>
            </a:r>
            <a:r>
              <a:rPr lang="en-AU" dirty="0" err="1"/>
              <a:t>bbl</a:t>
            </a:r>
            <a:r>
              <a:rPr lang="en-AU" dirty="0"/>
              <a:t> players and mimic predictions (Gen AI?)</a:t>
            </a:r>
          </a:p>
          <a:p>
            <a:r>
              <a:rPr lang="en-AU" dirty="0"/>
              <a:t>Weather model/ alternative strategies based on rain out games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3894B-0964-8417-2419-51FD3F36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Remove rained out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92B1D-6ECB-86DA-9CB8-5B33955CD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Rained out games provide very strange fantasy points behaviour which are not representative of the actual full game.</a:t>
            </a:r>
          </a:p>
          <a:p>
            <a:r>
              <a:rPr lang="en-AU" dirty="0"/>
              <a:t>These games should be removed to not mask/ weaken relationships</a:t>
            </a:r>
          </a:p>
          <a:p>
            <a:r>
              <a:rPr lang="en-AU" dirty="0"/>
              <a:t>Fix: removed all rain affected games from the modelling data</a:t>
            </a:r>
          </a:p>
          <a:p>
            <a:r>
              <a:rPr lang="en-AU" dirty="0"/>
              <a:t>Add: Can look into method to predict prob of rain affected game</a:t>
            </a:r>
          </a:p>
        </p:txBody>
      </p:sp>
    </p:spTree>
    <p:extLst>
      <p:ext uri="{BB962C8B-B14F-4D97-AF65-F5344CB8AC3E}">
        <p14:creationId xmlns:p14="http://schemas.microsoft.com/office/powerpoint/2010/main" val="2238022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CF53B-58B5-2166-3554-565CAE6A7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Added players who had no involvement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3E06E-FE53-ED8F-DCCB-2DCD24FDF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Currently only players who batted or bowled are directly added to the fantasy point table</a:t>
            </a:r>
          </a:p>
          <a:p>
            <a:r>
              <a:rPr lang="en-AU" dirty="0"/>
              <a:t>This is no representative of the entire players </a:t>
            </a:r>
            <a:r>
              <a:rPr lang="en-AU" dirty="0" err="1"/>
              <a:t>fp</a:t>
            </a:r>
            <a:endParaRPr lang="en-AU" dirty="0"/>
          </a:p>
          <a:p>
            <a:r>
              <a:rPr lang="en-AU" dirty="0"/>
              <a:t>Fix: Identified missing players and appended with 0 points</a:t>
            </a:r>
          </a:p>
        </p:txBody>
      </p:sp>
    </p:spTree>
    <p:extLst>
      <p:ext uri="{BB962C8B-B14F-4D97-AF65-F5344CB8AC3E}">
        <p14:creationId xmlns:p14="http://schemas.microsoft.com/office/powerpoint/2010/main" val="100962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9F56-BA59-FAF6-79C8-A248333FA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Pricing Model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0120E-7982-2BE3-3FA1-358B5018E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Three individual models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1 Game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2 Games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3 or more Games Expected Price Change Model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1337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1C0DD-1F29-6BF9-21F2-BC147396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F4B6D-B859-81E2-585F-115E16516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58E25A-46C3-E912-DFCF-F3A95F3F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1" y="1606373"/>
            <a:ext cx="5020722" cy="3075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AAFF2-7EB9-DAD9-DE9F-137C76ED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9"/>
          <a:stretch>
            <a:fillRect/>
          </a:stretch>
        </p:blipFill>
        <p:spPr>
          <a:xfrm>
            <a:off x="6951649" y="651752"/>
            <a:ext cx="3805561" cy="6203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F7B19-1051-10FA-A909-0441C239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372" y="4899636"/>
            <a:ext cx="2695951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4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79B03-F755-0793-DE77-BEAB3378B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D9832-E790-FEA8-6024-89D616225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DA508-1956-0619-0812-604D6A80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32" y="1615755"/>
            <a:ext cx="4721551" cy="2844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BBA2F4-FEC3-3E5E-40AF-06BB3E73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410" y="4687941"/>
            <a:ext cx="2457793" cy="7906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F1FC21-77D3-F860-F9D5-C4F4D504C5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43" t="542" b="814"/>
          <a:stretch>
            <a:fillRect/>
          </a:stretch>
        </p:blipFill>
        <p:spPr>
          <a:xfrm>
            <a:off x="7025268" y="651752"/>
            <a:ext cx="3656884" cy="620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47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07282D-DF96-7A4D-CA21-90533A8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482A9D-F23B-6B0C-5B36-B51009F9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</a:t>
            </a:r>
            <a:r>
              <a:rPr lang="en-US" sz="3200" dirty="0">
                <a:solidFill>
                  <a:schemeClr val="bg1"/>
                </a:solidFill>
              </a:rPr>
              <a:t>3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8FE36-BF12-46D4-2CD2-33F841A9E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74" y="1582997"/>
            <a:ext cx="5538328" cy="3376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E69E-5BDE-F210-2D61-FF8FD171B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26" y="5338242"/>
            <a:ext cx="2667372" cy="790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2A7AB9-6630-4F9C-7639-DBB9443F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8" t="968" r="1259" b="712"/>
          <a:stretch>
            <a:fillRect/>
          </a:stretch>
        </p:blipFill>
        <p:spPr>
          <a:xfrm>
            <a:off x="7426713" y="643467"/>
            <a:ext cx="3616848" cy="61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52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38E95-46C2-8089-3AFF-EC46EF3A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804F-5E8C-1D4B-605A-E3F1492FD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Previous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9F51-6BFC-E765-0305-5CD19BCBA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Features</a:t>
            </a:r>
          </a:p>
          <a:p>
            <a:pPr lvl="1"/>
            <a:r>
              <a:rPr lang="en-AU" dirty="0"/>
              <a:t>Player previous seasons fantasy points summary stats</a:t>
            </a:r>
          </a:p>
          <a:p>
            <a:pPr lvl="1"/>
            <a:r>
              <a:rPr lang="en-AU" dirty="0"/>
              <a:t>Match opponent</a:t>
            </a:r>
          </a:p>
          <a:p>
            <a:pPr lvl="1"/>
            <a:r>
              <a:rPr lang="en-AU" dirty="0"/>
              <a:t>Match venue</a:t>
            </a:r>
          </a:p>
          <a:p>
            <a:pPr lvl="1"/>
            <a:r>
              <a:rPr lang="en-AU" dirty="0"/>
              <a:t>Home venue</a:t>
            </a:r>
          </a:p>
          <a:p>
            <a:pPr lvl="1"/>
            <a:r>
              <a:rPr lang="en-AU" dirty="0"/>
              <a:t>Team Rank</a:t>
            </a:r>
          </a:p>
          <a:p>
            <a:pPr lvl="1"/>
            <a:r>
              <a:rPr lang="en-AU" dirty="0"/>
              <a:t>Home Ground Advantage Interaction Term</a:t>
            </a:r>
          </a:p>
          <a:p>
            <a:r>
              <a:rPr lang="en-AU" dirty="0"/>
              <a:t>During Tournament</a:t>
            </a:r>
          </a:p>
          <a:p>
            <a:pPr lvl="1"/>
            <a:r>
              <a:rPr lang="en-AU" dirty="0"/>
              <a:t>Current season player fantasy points summary stats</a:t>
            </a:r>
          </a:p>
          <a:p>
            <a:pPr lvl="1"/>
            <a:r>
              <a:rPr lang="en-AU" dirty="0"/>
              <a:t>Which overs bowled</a:t>
            </a:r>
          </a:p>
          <a:p>
            <a:pPr lvl="1"/>
            <a:r>
              <a:rPr lang="en-AU" dirty="0"/>
              <a:t>Batting position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67652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BAF1-9EC8-0E7F-DDC2-4E1D27C4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9B02-1CB5-3025-7E40-16AC7F9CC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86134-C9F0-19C3-2C44-4B0A4DBC5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Additional Features:</a:t>
            </a:r>
          </a:p>
          <a:p>
            <a:pPr lvl="1"/>
            <a:r>
              <a:rPr lang="en-AU" dirty="0"/>
              <a:t>Whether the player will bat feeder model</a:t>
            </a:r>
          </a:p>
          <a:p>
            <a:pPr lvl="1"/>
            <a:r>
              <a:rPr lang="en-AU" dirty="0"/>
              <a:t>Player actual performance (average runs, average strike rate, average bowls faced etc)</a:t>
            </a:r>
          </a:p>
          <a:p>
            <a:pPr lvl="1"/>
            <a:r>
              <a:rPr lang="en-AU" dirty="0"/>
              <a:t>Previous season batting points</a:t>
            </a:r>
          </a:p>
          <a:p>
            <a:pPr lvl="1"/>
            <a:r>
              <a:rPr lang="en-AU" dirty="0"/>
              <a:t>Pre season form? </a:t>
            </a:r>
            <a:r>
              <a:rPr lang="en-AU" dirty="0" err="1"/>
              <a:t>Cricinfo</a:t>
            </a:r>
            <a:r>
              <a:rPr lang="en-AU" dirty="0"/>
              <a:t>/ other tournaments</a:t>
            </a:r>
          </a:p>
          <a:p>
            <a:pPr lvl="1"/>
            <a:r>
              <a:rPr lang="en-AU" dirty="0"/>
              <a:t>Other tournaments flag (e.g. total number of t20 leagues played)</a:t>
            </a:r>
          </a:p>
          <a:p>
            <a:pPr lvl="1"/>
            <a:r>
              <a:rPr lang="en-AU" dirty="0"/>
              <a:t>Number of games played compared max </a:t>
            </a:r>
            <a:r>
              <a:rPr lang="en-AU"/>
              <a:t>in team</a:t>
            </a:r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9022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94D5A-41B3-0418-A227-B6AC28DC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2526-3D7C-1772-95EE-C96EFC1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D1478-2B91-A5BD-6C42-8F2FEAD44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Problem:</a:t>
            </a:r>
          </a:p>
          <a:p>
            <a:pPr lvl="1"/>
            <a:r>
              <a:rPr lang="en-AU" dirty="0"/>
              <a:t>Currently can not identify the batting position of the players who do not bat in the game (truncated data) and </a:t>
            </a:r>
            <a:r>
              <a:rPr lang="en-AU" b="1" dirty="0"/>
              <a:t>therefore the current batting position flags are skewed</a:t>
            </a:r>
          </a:p>
          <a:p>
            <a:r>
              <a:rPr lang="en-AU" dirty="0"/>
              <a:t>Solution: Two part model </a:t>
            </a:r>
          </a:p>
          <a:p>
            <a:pPr lvl="1"/>
            <a:r>
              <a:rPr lang="en-AU" dirty="0"/>
              <a:t>Expected Batting points = </a:t>
            </a:r>
            <a:r>
              <a:rPr lang="en-AU" dirty="0" err="1"/>
              <a:t>Pr</a:t>
            </a:r>
            <a:r>
              <a:rPr lang="en-AU" dirty="0"/>
              <a:t> of batting model x Number of batting points given player bats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0891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DF11E-9F4E-731D-F4D4-DC85B482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B832-A404-856B-5B15-498B899D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76CF6FE-4742-1F80-08A7-4AEFC184A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3" y="1581135"/>
            <a:ext cx="5487166" cy="2191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15F185-3660-C02F-48C5-4C03BA4F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352" y="0"/>
            <a:ext cx="2294648" cy="37046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9124439-DA01-4E1E-CADA-6BCEB6BE6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7352" y="3687214"/>
            <a:ext cx="2294648" cy="317078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A88AEEE-5EBD-3E40-AE50-BBF77EFA8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814" y="2468862"/>
            <a:ext cx="3598221" cy="32655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BB5288E-E7D3-8D27-8717-C302E606D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387" y="2468862"/>
            <a:ext cx="3537123" cy="327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38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DB9B-00A8-2E03-281D-159BB30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9F7BC-688C-D495-D03A-3C54E7A0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2 – Incl 0 players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9DC3D1-4D5D-F89C-4962-0F6254125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99" y="1462620"/>
            <a:ext cx="5372850" cy="1524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B87E50-B35B-4799-72BF-660A834D4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0061" y="0"/>
            <a:ext cx="2267847" cy="37078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98794D-F25F-0A49-014B-E60B7CDF5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0062" y="3718969"/>
            <a:ext cx="2267847" cy="31390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2A3679-5D55-BC6D-2669-2B3BE9052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71" y="2408674"/>
            <a:ext cx="3582498" cy="3251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30B8F8-B2A2-6D3B-53B0-E59D26A50C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3098" y="2365293"/>
            <a:ext cx="3522640" cy="327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652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721A5-7FD6-0A72-633B-AF0564E21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8D4B1-DA99-80EF-679C-72D439096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3 – rm rain games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E5644-B9CE-A184-333D-A8168241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71" y="1425563"/>
            <a:ext cx="5477639" cy="1714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DCD390-D5B9-6997-6F62-E36B93F13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9074" y="0"/>
            <a:ext cx="2282926" cy="3721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10993A-C7BC-A415-18CF-A4214327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9074" y="3684177"/>
            <a:ext cx="2282926" cy="31738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6D03B0-5988-72C1-D113-36DDB03B39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71" y="2565400"/>
            <a:ext cx="3327700" cy="30308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8B8BCB-8072-7BBF-4283-8F90795322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3292" y="2565400"/>
            <a:ext cx="3345416" cy="303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75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362</Words>
  <Application>Microsoft Office PowerPoint</Application>
  <PresentationFormat>Widescreen</PresentationFormat>
  <Paragraphs>54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BBL Fantasy AI v2</vt:lpstr>
      <vt:lpstr>New Additions</vt:lpstr>
      <vt:lpstr>Remove rained out games</vt:lpstr>
      <vt:lpstr>Added players who had no involvement </vt:lpstr>
      <vt:lpstr>Pricing Model</vt:lpstr>
      <vt:lpstr>Pricing Model 1</vt:lpstr>
      <vt:lpstr>Pricing Model 2</vt:lpstr>
      <vt:lpstr>Pricing Model 3</vt:lpstr>
      <vt:lpstr>Previous Features</vt:lpstr>
      <vt:lpstr>Batting Model</vt:lpstr>
      <vt:lpstr>Batting Model</vt:lpstr>
      <vt:lpstr>RF Model 1</vt:lpstr>
      <vt:lpstr>RF Model 2 – Incl 0 players</vt:lpstr>
      <vt:lpstr>RF Model 3 – rm rain games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4</cp:revision>
  <dcterms:created xsi:type="dcterms:W3CDTF">2025-05-18T04:29:51Z</dcterms:created>
  <dcterms:modified xsi:type="dcterms:W3CDTF">2025-11-13T13:24:58Z</dcterms:modified>
</cp:coreProperties>
</file>